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O Hub de IA é um assistente conversacional para análise de campanhas e clientes. A ideia central: ele decide sozinho se responde direto ou aciona especialistas que consultam dados reais, e confere o resultado antes de entregar.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problema: um chatbot comum preenche lacunas com respostas plausíveis, ninguém confere e ele perde o fio entre uma pergunta e a seguinte. Em análise de campanhas isso é inaceitável. O Hub ataca cada um desses três pontos.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papéis são feitos por modelos de linguagem. O planejador decide o que fazer, os especialistas consultam os dados, o validador julga e o comunicador escreve a introdução. O planejador nunca calcula: tudo que exige dados vai para um especialista.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de ponta a ponta. A pergunta é aceita na hora. O planejador toma a primeira decisão: responder, perguntar ou delegar. Se delegar, especialistas trabalham em paralelo e o validador toma a segunda decisão sobre cada resultado. O comunicador fecha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planejador lê antes de decidir: mensagens, o que cada especialista já devolveu, artefatos, contexto ativo e perguntas pendentes. Só então escolhe um dos três caminhos. A regra de ouro: gráficos, tabelas e números novos nunca saem dele; o pedido volta ao mesmo especialista que produziu o resultado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catálogo declara o que cada especialista produz e consome. Se o pedido exige os dois, o Hub ordena sozinho: o consumidor espera o produtor e parte do resultado novo. Tarefas sem relação rodam em paralelo. O exemplo do Briefing é hipotético, para ilustrar.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resposta de especialista passa por um juiz que devolve um de quatro vereditos. CONTINUE aprova e guarda o resultado. RETRY refaz até 3 vezes e, esgotado, cancela só aquela tarefa. HITL registra uma pergunta ao usuário. CANCEL encerra a execução. HITL tem prioridade sobre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é montada em blocos: um resumo escrito pelo comunicador, a resposta completa de cada especialista aprovado, com tabelas e gráficos montados em tempo de execução, e as pendências quando há perguntas ao usuário. O formato visual é neutro para não acoplar a tela à Genie.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Histórico da conversa para resolver referências como 'isso'. Memória curta por especialista: suas últimas 5 tarefas. Contextos de trabalho: um modo ativo por vez; trocar pausa o anterior e voltar reaproveita. Artefatos: resultados versionados que podem ser reativados.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real que motivou um ajuste no planejador. O usuário pede uma análise de page_view; depois pede gráficos. O planejador lê o histórico, entende que 'desses dados' é o resultado anterior e devolve a tarefa ao mesmo especialista, em vez de tentar desenhar o gráfico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Hub é uma aplicação Java 21 com Spring Boot. A tela fala com a API REST; planejamento, orquestração e comunicação usam a OpenAI; os providers conectam fontes de dados, hoje só a Genie; e todo o estado fica no MongoDB, sem Redis.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coleções de catálogo, que mudam pouco, e oito de operação, que crescem com o uso. As mudanças de estado usam atualizações condicionais e índices únicos protegem as regras de negócio. O catálogo inicial só é gravado em coleções vazias: depois disso, o banco 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Criar um especialista que usa a Genie não exige código: são documentos no MongoDB, de habilidade, especialista e contexto. Conectar uma nova fonte de dados exige implementar um contrato pequeno em Java, e nada no planejador, validador, comunicador ou tela muda.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garantias são estruturais: o planejador não inventa números, decisões inválidas não são gravadas, todo resultado é conferido e a execução termina uma única vez. Os limites são conhecidos e têm tratamento sugerido; os principais são autenticação real e recuperação de execuções órfãs.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mapa completo de decisões, com todos os caminhos, está em Documentacao/diagramas e dentro do documento 'A jornada de uma pergunta'. As outras pastas permitem reconstruir e conferir o projeto em outra máquina: specs para o código, Modelling para o banco e Mermaid para a conferência.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331720"/>
            <a:ext cx="109728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Hub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05840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BFD6FF"/>
                </a:solidFill>
                <a:latin typeface="Calibri"/>
              </a:rPr>
              <a:t>Um assistente que decide, consulta dados reais e confere o resultado antes de responder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60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3B4F5"/>
                </a:solidFill>
                <a:latin typeface="Calibri"/>
              </a:rPr>
              <a:t>Visão geral para lideranças técnicas e de negócio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Chatbots respondem de memória; analisar campanhas exige dados, conferência e continuidade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029200" cy="132588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7F1D1D"/>
                </a:solidFill>
                <a:latin typeface="Calibri"/>
              </a:rPr>
              <a:t>Inventa números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Sem fonte de dados, o modelo completa lacunas com respostas plausíveis, porém erradas.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029200" cy="132588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7F1D1D"/>
                </a:solidFill>
                <a:latin typeface="Calibri"/>
              </a:rPr>
              <a:t>Ninguém confere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A resposta chega ao usuário sem passar por um julgamento independente.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5029200" cy="132588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7F1D1D"/>
                </a:solidFill>
                <a:latin typeface="Calibri"/>
              </a:rPr>
              <a:t>Perde o fio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Pedidos como "agora em gráfico" exigem lembrar o que acabou de ser analisado.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60720" y="3611880"/>
            <a:ext cx="502920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600200"/>
            <a:ext cx="5196535" cy="434340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O Hub de IA</a:t>
            </a:r>
          </a:p>
          <a:p>
            <a:pPr algn="l" marL="203200" indent="-203200">
              <a:spcAft>
                <a:spcPts val="800"/>
              </a:spcAft>
              <a:buChar char="•"/>
            </a:pPr>
            <a:r>
              <a:rPr sz="2000" b="0">
                <a:solidFill>
                  <a:srgbClr val="111827"/>
                </a:solidFill>
                <a:latin typeface="Calibri"/>
              </a:rPr>
              <a:t>Decide se responde direto ou delega a especialistas</a:t>
            </a:r>
          </a:p>
          <a:p>
            <a:pPr algn="l" marL="203200" indent="-203200">
              <a:spcAft>
                <a:spcPts val="800"/>
              </a:spcAft>
              <a:buChar char="•"/>
            </a:pPr>
            <a:r>
              <a:rPr sz="2000" b="0">
                <a:solidFill>
                  <a:srgbClr val="111827"/>
                </a:solidFill>
                <a:latin typeface="Calibri"/>
              </a:rPr>
              <a:t>Especialistas consultam a fonte de dados real (Genie)</a:t>
            </a:r>
          </a:p>
          <a:p>
            <a:pPr algn="l" marL="203200" indent="-203200">
              <a:spcAft>
                <a:spcPts val="800"/>
              </a:spcAft>
              <a:buChar char="•"/>
            </a:pPr>
            <a:r>
              <a:rPr sz="2000" b="0">
                <a:solidFill>
                  <a:srgbClr val="111827"/>
                </a:solidFill>
                <a:latin typeface="Calibri"/>
              </a:rPr>
              <a:t>Cada resultado é validado antes de chegar ao usuário</a:t>
            </a:r>
          </a:p>
          <a:p>
            <a:pPr algn="l" marL="203200" indent="-203200">
              <a:spcAft>
                <a:spcPts val="800"/>
              </a:spcAft>
              <a:buChar char="•"/>
            </a:pPr>
            <a:r>
              <a:rPr sz="2000" b="0">
                <a:solidFill>
                  <a:srgbClr val="111827"/>
                </a:solidFill>
                <a:latin typeface="Calibri"/>
              </a:rPr>
              <a:t>Contexto e resultados anteriores são lembrados e reaproveitados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Quatro papéis, cada um com uma responsabilidade clara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02153" cy="310896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Planejador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Lê a conversa e decide: responder, perguntar ou delegar. Nunca calcula nem inventa números.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310896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Especialistas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Consultam a fonte de dados com ferramentas autorizadas e produzem a análise, com tabelas e gráficos.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645920"/>
            <a:ext cx="2602153" cy="310896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Validador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Juiz independente: aprova, manda refazer, pede ajuda ao usuário ou cancela.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0901" y="1645920"/>
            <a:ext cx="2602153" cy="310896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2A5B"/>
                </a:solidFill>
                <a:latin typeface="Calibri"/>
              </a:rPr>
              <a:t>Comunicador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Escreve a introdução da resposta final, sem expor detalhes internos.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11094415" cy="13258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Divisão de trabalho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O que exige julgamento é do modelo de linguagem; o que exige garantia é do código: atomicidade no banco, ordem de planejamento, limite de tentativas e validação antes de gravar.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Uma pergunta percorre um caminho com duas grandes decisões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Pergunta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do usuário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39696" y="2203704"/>
            <a:ext cx="279806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6078" y="17373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Planejador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decisão 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47134" y="2203704"/>
            <a:ext cx="279806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63516" y="17373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Especialistas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em paralelo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4572" y="2203704"/>
            <a:ext cx="279806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0955" y="17373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Validador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decisão 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62011" y="2203704"/>
            <a:ext cx="279806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8393" y="17373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Comunicador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introdução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769449" y="2203704"/>
            <a:ext cx="279806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85832" y="17373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B2A5B"/>
                </a:solidFill>
                <a:latin typeface="Calibri"/>
              </a:rPr>
              <a:t>Resposta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no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3545738" cy="24688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Confirmação imediata</a:t>
            </a: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111827"/>
                </a:solidFill>
                <a:latin typeface="Calibri"/>
              </a:rPr>
              <a:t>O Hub aceita a mensagem na hora e trabalha em segundo plano. A tela acompanha o andamento por polling.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2978" y="3429000"/>
            <a:ext cx="3545738" cy="24688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Decisão 1: três caminhos</a:t>
            </a: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111827"/>
                </a:solidFill>
                <a:latin typeface="Calibri"/>
              </a:rPr>
              <a:t>Resposta direta, pergunta de esclarecimento ou delegação a especialistas.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3429000"/>
            <a:ext cx="3545738" cy="24688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Decisão 2: quatro vereditos</a:t>
            </a: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111827"/>
                </a:solidFill>
                <a:latin typeface="Calibri"/>
              </a:rPr>
              <a:t>CONTINUE, RETRY, HITL ou CANCEL para cada resultado, antes de o usuário vê-lo.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Decisão 1: o planejador lê o contexto e escolhe entre três caminhos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45738" cy="26974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532D"/>
                </a:solidFill>
                <a:latin typeface="Calibri"/>
              </a:rPr>
              <a:t>Resposta direta</a:t>
            </a: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111827"/>
                </a:solidFill>
                <a:latin typeface="Calibri"/>
              </a:rPr>
              <a:t>Saudação, agradecimento ou explicar algo que já está escrito na conversa.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6974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78350F"/>
                </a:solidFill>
                <a:latin typeface="Calibri"/>
              </a:rPr>
              <a:t>Pergunta de esclarecimento</a:t>
            </a: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111827"/>
                </a:solidFill>
                <a:latin typeface="Calibri"/>
              </a:rPr>
              <a:t>Faltam período, segmento, campanha ou objetivo. A resposta do usuário volta ao planejador na próxima mensagem.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7316" y="1600200"/>
            <a:ext cx="3545738" cy="269748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Delegar a especialistas</a:t>
            </a: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111827"/>
                </a:solidFill>
                <a:latin typeface="Calibri"/>
              </a:rPr>
              <a:t>Precisa de dados, métricas, segmentação ou análise. Cria uma tarefa autocontida por especialista.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2628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Ele lê antes de decidir</a:t>
            </a: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111827"/>
                </a:solidFill>
                <a:latin typeface="Calibri"/>
              </a:rPr>
              <a:t>Conversa anterior, resultados recentes dos especialistas, artefatos, contexto ativo e perguntas pendentes.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526280"/>
            <a:ext cx="5470855" cy="1691640"/>
          </a:xfrm>
          <a:prstGeom prst="roundRect">
            <a:avLst>
              <a:gd name="adj" fmla="val 5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Regra de ouro</a:t>
            </a: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DCEBFF"/>
                </a:solidFill>
                <a:latin typeface="Calibri"/>
              </a:rPr>
              <a:t>Gráficos, tabelas e números novos nunca saem do planejador. "Agora em gráfico" volta ao mesmo especialista que gerou os 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As tarefas rodam em paralelo e respeitam o que cada especialista produz e consome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760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Exemplo (hipotético)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Mensuração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Calibri"/>
              </a:rPr>
              <a:t>produz INSIGHT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2304288"/>
            <a:ext cx="457200" cy="32918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9039" y="19202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Briefing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Calibri"/>
              </a:rPr>
              <a:t>consome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5760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Briefing espera a Mensuração e parte do resultado novo.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Mapa de Clientes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  <a:latin typeface="Calibri"/>
              </a:rPr>
              <a:t>independente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840480"/>
            <a:ext cx="30175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Roda ao mesmo tempo que a Mensuração.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600200"/>
            <a:ext cx="5059375" cy="43891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Regras de execução</a:t>
            </a:r>
          </a:p>
          <a:p>
            <a:pPr algn="l" marL="203200" indent="-203200">
              <a:spcAft>
                <a:spcPts val="10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Até 4 tarefas simultâneas (configurável)</a:t>
            </a:r>
          </a:p>
          <a:p>
            <a:pPr algn="l" marL="203200" indent="-203200">
              <a:spcAft>
                <a:spcPts val="10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O planejador não declara dependências: o catálogo (produz/consome) basta</a:t>
            </a:r>
          </a:p>
          <a:p>
            <a:pPr algn="l" marL="203200" indent="-203200">
              <a:spcAft>
                <a:spcPts val="10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Se o produtor não for aprovado, o consumidor é pulado</a:t>
            </a:r>
          </a:p>
          <a:p>
            <a:pPr algn="l" marL="203200" indent="-203200">
              <a:spcAft>
                <a:spcPts val="10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Ciclo no catálogo? Executa em paralelo em vez de travar</a:t>
            </a:r>
          </a:p>
          <a:p>
            <a:pPr algn="l" marL="203200" indent="-203200">
              <a:spcAft>
                <a:spcPts val="10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O especialista não vê a conversa: recebe uma tarefa autocontida, memória própria e os artefatos que consome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Decisão 2: nenhum resultado chega ao usuário sem passar pelo validador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200400" cy="137160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Especialista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consulta a fonte e responde</a:t>
            </a:r>
          </a:p>
        </p:txBody>
      </p:sp>
      <p:sp>
        <p:nvSpPr>
          <p:cNvPr id="7" name="Down Arrow 6"/>
          <p:cNvSpPr/>
          <p:nvPr/>
        </p:nvSpPr>
        <p:spPr>
          <a:xfrm>
            <a:off x="1965960" y="3035808"/>
            <a:ext cx="365760" cy="45720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3200400" cy="242316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Validador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Calibri"/>
              </a:rPr>
              <a:t>Juiz independente: compara a resposta com o objetivo da tarefa e com a memória curta da conversa.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80" y="4526280"/>
            <a:ext cx="4572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1828800" cy="100584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4532D"/>
                </a:solidFill>
                <a:latin typeface="Calibri"/>
              </a:rPr>
              <a:t>CONTINUE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600200"/>
            <a:ext cx="5287975" cy="1005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Calibri"/>
              </a:rPr>
              <a:t>Resposta boa. A tarefa é aprovada e o resultado vira artefato.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715768"/>
            <a:ext cx="1828800" cy="1005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Calibri"/>
              </a:rPr>
              <a:t>RETRY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2715768"/>
            <a:ext cx="5287975" cy="1005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Calibri"/>
              </a:rPr>
              <a:t>Resposta ruim ou vazia. Refaz com o feedback, até 3 vezes; esgotado, cancela só a tarefa.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831335"/>
            <a:ext cx="1828800" cy="10058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8350F"/>
                </a:solidFill>
                <a:latin typeface="Calibri"/>
              </a:rPr>
              <a:t>HITL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3831335"/>
            <a:ext cx="5287975" cy="1005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Calibri"/>
              </a:rPr>
              <a:t>Falta uma decisão do usuário. Registra a pergunta pendente. Tem prioridade sobre CONTINUE.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946904"/>
            <a:ext cx="1828800" cy="10058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F1D1D"/>
                </a:solidFill>
                <a:latin typeface="Calibri"/>
              </a:rPr>
              <a:t>CANCEL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4946904"/>
            <a:ext cx="5287975" cy="1005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Calibri"/>
              </a:rPr>
              <a:t>Impedimento total. Cancela a execução inteira e o comunicador explica.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A resposta final reúne introdução, análises dos especialistas e pendências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035040" cy="96012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Resumo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Introdução curta escrita pelo comunicador.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6035040" cy="17830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Resposta de cada especialista aprovado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Texto, tabelas (HTML) e gráficos (Vega-Lite), posicionados junto ao parágrafo que os explica.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09160"/>
            <a:ext cx="6035040" cy="12801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78350F"/>
                </a:solidFill>
                <a:latin typeface="Calibri"/>
              </a:rPr>
              <a:t>Ainda preciso de você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Perguntas pendentes (HITL), quando houver. Não bloqueiam a conversa.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00200"/>
            <a:ext cx="4785055" cy="43891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Conteúdo visual neutro</a:t>
            </a:r>
          </a:p>
          <a:p>
            <a:pPr algn="l" marL="203200" indent="-203200">
              <a:spcAft>
                <a:spcPts val="10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Gráficos e tabelas viajam em formato neutro, não no formato do fornecedor</a:t>
            </a:r>
          </a:p>
          <a:p>
            <a:pPr algn="l" marL="203200" indent="-203200">
              <a:spcAft>
                <a:spcPts val="10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São montados em tempo de execução: a tela não depende da Genie</a:t>
            </a:r>
          </a:p>
          <a:p>
            <a:pPr algn="l" marL="203200" indent="-203200">
              <a:spcAft>
                <a:spcPts val="10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Com pendências, a introdução é a de resposta parcial</a:t>
            </a:r>
          </a:p>
          <a:p>
            <a:pPr algn="l" marL="203200" indent="-203200">
              <a:spcAft>
                <a:spcPts val="10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Em falha, o usuário recebe uma mensagem clara, nunca silêncio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O Hub lembra de quatro formas diferentes, cada uma com seu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32907" cy="2148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Histórico da conversa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Entregue ao planejador a cada pergunta, para resolver referências como "isso" e "esses dados".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00200"/>
            <a:ext cx="5432907" cy="21488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Memória curta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Cada especialista lembra das suas últimas 5 tarefas na conversa, com ordem garantida.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5432907" cy="21488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Contextos de trabalho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Um "modo" ativo por conversa. Trocar pausa o anterior; voltar reaproveita a instância.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3977639"/>
            <a:ext cx="5432907" cy="2148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Artefatos versionados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Resultados aprovados ficam ACTIVE ou SUPERSEDED. É possível voltar a uma versão anterior.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Exemplo: da análise ao gráfico, sem o planejador inventar 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65376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1600200"/>
            <a:ext cx="3931920" cy="107899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"Analise o page_view por subagente."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49240" y="1975104"/>
            <a:ext cx="365760" cy="32918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6440" y="1600200"/>
            <a:ext cx="5836615" cy="1078992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O planejador delega ao especialista de Mensuração. A Genie é consultada, o validador aprova e o resultado vira artefato.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35808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770632"/>
            <a:ext cx="3931920" cy="107899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"Gere gráficos desses dados."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49240" y="3145536"/>
            <a:ext cx="365760" cy="32918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06440" y="2770632"/>
            <a:ext cx="5836615" cy="1078992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O planejador lê o histórico, entende "desses dados" e devolve a tarefa ao mesmo especialista, em vez de desenhar sozinho.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3941064"/>
            <a:ext cx="3931920" cy="107899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(nenhuma ação do usuário)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349240" y="4315968"/>
            <a:ext cx="365760" cy="32918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3941064"/>
            <a:ext cx="5836615" cy="1078992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O especialista gera o gráfico a partir da fonte, em formato neutro (Vega-Lite). O validador aprova.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376672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5111496"/>
            <a:ext cx="3931920" cy="107899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O usuário lê a resposta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49240" y="5486400"/>
            <a:ext cx="365760" cy="32918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06440" y="5111496"/>
            <a:ext cx="5836615" cy="1078992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O comunicador escreve a introdução curta. O usuário vê o texto e o gráfico no chat.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Arquitetura: poucos blocos e um único 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737360" cy="2011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Usuário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interface web (chat)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3108960"/>
            <a:ext cx="365760" cy="32918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508760"/>
            <a:ext cx="5212080" cy="4526280"/>
          </a:xfrm>
          <a:prstGeom prst="roundRect">
            <a:avLst>
              <a:gd name="adj" fmla="val 3000"/>
            </a:avLst>
          </a:prstGeom>
          <a:noFill/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5544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Hub de 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011680"/>
            <a:ext cx="2400300" cy="11887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API REST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mensagem e andamento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09260" y="2011680"/>
            <a:ext cx="2400300" cy="11887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Planejamento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responder ou delegar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291840"/>
            <a:ext cx="2400300" cy="11887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Orquestração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paralelo, validação, retry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09260" y="3291840"/>
            <a:ext cx="2400300" cy="11887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Comunicação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resposta final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617720"/>
            <a:ext cx="4937760" cy="132588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Providers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111827"/>
                </a:solidFill>
                <a:latin typeface="Calibri"/>
              </a:rPr>
              <a:t>Conectores de fontes de dados. Hoje: Genie.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38160" y="3108960"/>
            <a:ext cx="365760" cy="32918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0" y="1508760"/>
            <a:ext cx="3047695" cy="13258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OpenAI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planejador, validador, comunicador, especialistas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017520"/>
            <a:ext cx="3047695" cy="13258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Genie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Databricks: dados de campanhas e clientes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526280"/>
            <a:ext cx="3047695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B2A5B"/>
                </a:solidFill>
                <a:latin typeface="Calibri"/>
              </a:rPr>
              <a:t>MongoDB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única fonte da verdade (13 coleções)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44768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Java 21 · Spring Boot 4.1.1 · MongoDB 8 · OpenAI · Genie (Databricks)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MongoDB é a única fonte da verdade: 13 coleções e escritas atômicas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Catálogo (5)</a:t>
            </a:r>
          </a:p>
          <a:p>
            <a:pPr algn="l" marL="203200" indent="-203200">
              <a:spcAft>
                <a:spcPts val="6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work_contexts</a:t>
            </a:r>
          </a:p>
          <a:p>
            <a:pPr algn="l" marL="203200" indent="-203200">
              <a:spcAft>
                <a:spcPts val="6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subagents</a:t>
            </a:r>
          </a:p>
          <a:p>
            <a:pPr algn="l" marL="203200" indent="-203200">
              <a:spcAft>
                <a:spcPts val="6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skills</a:t>
            </a:r>
          </a:p>
          <a:p>
            <a:pPr algn="l" marL="203200" indent="-203200">
              <a:spcAft>
                <a:spcPts val="6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tools</a:t>
            </a:r>
          </a:p>
          <a:p>
            <a:pPr algn="l" marL="203200" indent="-203200">
              <a:spcAft>
                <a:spcPts val="6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providers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6B7280"/>
                </a:solidFill>
                <a:latin typeface="Calibri"/>
              </a:rPr>
              <a:t>Configuração; muda raramente.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00200"/>
            <a:ext cx="4114800" cy="43891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Operação (8)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conversations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messages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agent_runs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task_executions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artifacts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conversation_work_contexts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human_input_requests</a:t>
            </a:r>
          </a:p>
          <a:p>
            <a:pPr algn="l" marL="203200" indent="-203200">
              <a:spcAft>
                <a:spcPts val="3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provider_sessions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600200"/>
            <a:ext cx="2864815" cy="4389120"/>
          </a:xfrm>
          <a:prstGeom prst="roundRect">
            <a:avLst>
              <a:gd name="adj" fmla="val 5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Garantias</a:t>
            </a:r>
          </a:p>
          <a:p>
            <a:pPr algn="l" marL="203200" indent="-203200">
              <a:spcAft>
                <a:spcPts val="800"/>
              </a:spcAft>
              <a:buChar char="•"/>
            </a:pPr>
            <a:r>
              <a:rPr sz="1800" b="0">
                <a:solidFill>
                  <a:srgbClr val="DCEBFF"/>
                </a:solidFill>
                <a:latin typeface="Calibri"/>
              </a:rPr>
              <a:t>Uma execução sai de RUNNING uma única vez (atualização condicional)</a:t>
            </a:r>
          </a:p>
          <a:p>
            <a:pPr algn="l" marL="203200" indent="-203200">
              <a:spcAft>
                <a:spcPts val="800"/>
              </a:spcAft>
              <a:buChar char="•"/>
            </a:pPr>
            <a:r>
              <a:rPr sz="1800" b="0">
                <a:solidFill>
                  <a:srgbClr val="DCEBFF"/>
                </a:solidFill>
                <a:latin typeface="Calibri"/>
              </a:rPr>
              <a:t>Índices únicos protegem versões, sessões e contextos</a:t>
            </a:r>
          </a:p>
          <a:p>
            <a:pPr algn="l" marL="203200" indent="-203200">
              <a:spcAft>
                <a:spcPts val="800"/>
              </a:spcAft>
              <a:buChar char="•"/>
            </a:pPr>
            <a:r>
              <a:rPr sz="1800" b="0">
                <a:solidFill>
                  <a:srgbClr val="DCEBFF"/>
                </a:solidFill>
                <a:latin typeface="Calibri"/>
              </a:rPr>
              <a:t>Catálogo inicial só em coleções vazias: o banco manda</a:t>
            </a:r>
          </a:p>
          <a:p>
            <a:pPr algn="l" marL="203200" indent="-203200">
              <a:spcAft>
                <a:spcPts val="800"/>
              </a:spcAft>
              <a:buChar char="•"/>
            </a:pPr>
            <a:r>
              <a:rPr sz="1800" b="0">
                <a:solidFill>
                  <a:srgbClr val="DCEBFF"/>
                </a:solidFill>
                <a:latin typeface="Calibri"/>
              </a:rPr>
              <a:t>Sem Redis: o status vem do próprio MongoDB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Extensível: novo especialista é dado no banco; nova fonte de dados é uma classe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Quero...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59" y="1554480"/>
            <a:ext cx="1463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Esforço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46936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Precisa de código?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4754880" cy="603504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Novo especialista usando a Genie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59" y="1920240"/>
            <a:ext cx="1463040" cy="603504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4532D"/>
                </a:solidFill>
                <a:latin typeface="Calibri"/>
              </a:rPr>
              <a:t>Baixo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920240"/>
            <a:ext cx="4693615" cy="603504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Não: documentos no MongoDB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4754880" cy="603504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Novo contexto de trabalho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59" y="2633472"/>
            <a:ext cx="1463040" cy="603504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4532D"/>
                </a:solidFill>
                <a:latin typeface="Calibri"/>
              </a:rPr>
              <a:t>Baixo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633472"/>
            <a:ext cx="4693615" cy="603504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Não: um documento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46704"/>
            <a:ext cx="4754880" cy="603504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Novo tipo de resultado (artefato)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59" y="3346704"/>
            <a:ext cx="1463040" cy="603504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4532D"/>
                </a:solidFill>
                <a:latin typeface="Calibri"/>
              </a:rPr>
              <a:t>Baixo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346704"/>
            <a:ext cx="4693615" cy="603504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Não: declarar produz/consome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59935"/>
            <a:ext cx="4754880" cy="603504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827"/>
                </a:solidFill>
                <a:latin typeface="Calibri"/>
              </a:rPr>
              <a:t>Nova fonte de dados (provider)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59" y="4059935"/>
            <a:ext cx="1463040" cy="603504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8350F"/>
                </a:solidFill>
                <a:latin typeface="Calibri"/>
              </a:rPr>
              <a:t>Médio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4059935"/>
            <a:ext cx="4693615" cy="603504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11827"/>
                </a:solidFill>
                <a:latin typeface="Calibri"/>
              </a:rPr>
              <a:t>Sim: uma classe Java (ProviderTool)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6B7280"/>
                </a:solidFill>
                <a:latin typeface="Calibri"/>
              </a:rPr>
              <a:t>Cadeia de acesso de um especialista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Contexto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432304" y="5559552"/>
            <a:ext cx="37719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64358" y="530352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Especialista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748022" y="5559552"/>
            <a:ext cx="37719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80075" y="530352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Habilidade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63739" y="5559552"/>
            <a:ext cx="37719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5794" y="530352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Ferramenta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79458" y="5559552"/>
            <a:ext cx="37719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11511" y="530352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B2A5B"/>
                </a:solidFill>
                <a:latin typeface="Calibri"/>
              </a:rPr>
              <a:t>Provider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O que o Hub garante hoje e o que tratar antes de ampliar o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10047" cy="448056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532D"/>
                </a:solidFill>
                <a:latin typeface="Calibri"/>
              </a:rPr>
              <a:t>Garantias</a:t>
            </a:r>
          </a:p>
          <a:p>
            <a:pPr algn="l" marL="203200" indent="-203200">
              <a:spcAft>
                <a:spcPts val="7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Planejador não inventa números: dados vêm de especialistas</a:t>
            </a:r>
          </a:p>
          <a:p>
            <a:pPr algn="l" marL="203200" indent="-203200">
              <a:spcAft>
                <a:spcPts val="7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Decisão inválida não é gravada (validação antes de gravar)</a:t>
            </a:r>
          </a:p>
          <a:p>
            <a:pPr algn="l" marL="203200" indent="-203200">
              <a:spcAft>
                <a:spcPts val="7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Todo resultado é conferido, com até 3 tentativas</a:t>
            </a:r>
          </a:p>
          <a:p>
            <a:pPr algn="l" marL="203200" indent="-203200">
              <a:spcAft>
                <a:spcPts val="7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Execução termina uma única vez; resultados tardios são descartados</a:t>
            </a:r>
          </a:p>
          <a:p>
            <a:pPr algn="l" marL="203200" indent="-203200">
              <a:spcAft>
                <a:spcPts val="70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A conversa não trava: resposta imediata e processamento em segundo plano</a:t>
            </a:r>
          </a:p>
          <a:p>
            <a:pPr algn="l" marL="203200" indent="-203200">
              <a:spcAft>
                <a:spcPts val="0"/>
              </a:spcAft>
              <a:buChar char="•"/>
            </a:pPr>
            <a:r>
              <a:rPr sz="1900" b="0">
                <a:solidFill>
                  <a:srgbClr val="111827"/>
                </a:solidFill>
                <a:latin typeface="Calibri"/>
              </a:rPr>
              <a:t>72 testes automatizados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554480"/>
            <a:ext cx="5410047" cy="44805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78350F"/>
                </a:solidFill>
                <a:latin typeface="Calibri"/>
              </a:rPr>
              <a:t>Limites e próximo passo</a:t>
            </a:r>
          </a:p>
          <a:p>
            <a:pPr algn="l" marL="203200" indent="-203200">
              <a:spcAft>
                <a:spcPts val="700"/>
              </a:spcAft>
              <a:buChar char="•"/>
            </a:pPr>
            <a:r>
              <a:rPr sz="1900" b="1">
                <a:solidFill>
                  <a:srgbClr val="111827"/>
                </a:solidFill>
                <a:latin typeface="Calibri"/>
              </a:rPr>
              <a:t>Sem autenticação real </a:t>
            </a:r>
            <a:r>
              <a:rPr sz="1900" b="0">
                <a:solidFill>
                  <a:srgbClr val="111827"/>
                </a:solidFill>
                <a:latin typeface="Calibri"/>
              </a:rPr>
              <a:t>(cabeçalho Authorization): integrar identidade antes de expor</a:t>
            </a:r>
          </a:p>
          <a:p>
            <a:pPr algn="l" marL="203200" indent="-203200">
              <a:spcAft>
                <a:spcPts val="700"/>
              </a:spcAft>
              <a:buChar char="•"/>
            </a:pPr>
            <a:r>
              <a:rPr sz="1900" b="1">
                <a:solidFill>
                  <a:srgbClr val="111827"/>
                </a:solidFill>
                <a:latin typeface="Calibri"/>
              </a:rPr>
              <a:t>Sem recuperação de execuções órfãs: </a:t>
            </a:r>
            <a:r>
              <a:rPr sz="1900" b="0">
                <a:solidFill>
                  <a:srgbClr val="111827"/>
                </a:solidFill>
                <a:latin typeface="Calibri"/>
              </a:rPr>
              <a:t>varredura que marque como FAILED</a:t>
            </a:r>
          </a:p>
          <a:p>
            <a:pPr algn="l" marL="203200" indent="-203200">
              <a:spcAft>
                <a:spcPts val="700"/>
              </a:spcAft>
              <a:buChar char="•"/>
            </a:pPr>
            <a:r>
              <a:rPr sz="1900" b="1">
                <a:solidFill>
                  <a:srgbClr val="111827"/>
                </a:solidFill>
                <a:latin typeface="Calibri"/>
              </a:rPr>
              <a:t>Polling, não eventos: </a:t>
            </a:r>
            <a:r>
              <a:rPr sz="1900" b="0">
                <a:solidFill>
                  <a:srgbClr val="111827"/>
                </a:solidFill>
                <a:latin typeface="Calibri"/>
              </a:rPr>
              <a:t>evoluir para tempo real</a:t>
            </a:r>
          </a:p>
          <a:p>
            <a:pPr algn="l" marL="203200" indent="-203200">
              <a:spcAft>
                <a:spcPts val="700"/>
              </a:spcAft>
              <a:buChar char="•"/>
            </a:pPr>
            <a:r>
              <a:rPr sz="1900" b="1">
                <a:solidFill>
                  <a:srgbClr val="111827"/>
                </a:solidFill>
                <a:latin typeface="Calibri"/>
              </a:rPr>
              <a:t>Vários contextos: </a:t>
            </a:r>
            <a:r>
              <a:rPr sz="1900" b="0">
                <a:solidFill>
                  <a:srgbClr val="111827"/>
                </a:solidFill>
                <a:latin typeface="Calibri"/>
              </a:rPr>
              <a:t>planejador ainda não vê o contexto de cada execução</a:t>
            </a:r>
          </a:p>
          <a:p>
            <a:pPr algn="l" marL="203200" indent="-203200">
              <a:spcAft>
                <a:spcPts val="0"/>
              </a:spcAft>
              <a:buChar char="•"/>
            </a:pPr>
            <a:r>
              <a:rPr sz="1900" b="1">
                <a:solidFill>
                  <a:srgbClr val="111827"/>
                </a:solidFill>
                <a:latin typeface="Calibri"/>
              </a:rPr>
              <a:t>Um único provider (Genie) </a:t>
            </a:r>
            <a:r>
              <a:rPr sz="1900" b="0">
                <a:solidFill>
                  <a:srgbClr val="111827"/>
                </a:solidFill>
                <a:latin typeface="Calibri"/>
              </a:rPr>
              <a:t>e catálogo editado direto no banco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A5B"/>
                </a:solidFill>
                <a:latin typeface="Calibri"/>
              </a:rPr>
              <a:t>Onde aprofundar: cada pasta do projeto serve a um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Hub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32907" cy="2148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Documentacao/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Documentos para pessoas, diagramas editáveis (Mermaid) e esta apresentação. Comece pela jornada de uma pergunta.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00200"/>
            <a:ext cx="5432907" cy="21488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specs/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Especificação exata para reconstruir o projeto em outra máquina, com trechos de código verbatim.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5432907" cy="214884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Modelling/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Scripts para criar o banco manualmente: 13 coleções, 16 índices, catálogo inicial e verificação.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3977639"/>
            <a:ext cx="5432907" cy="2148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2A5B"/>
                </a:solidFill>
                <a:latin typeface="Calibri"/>
              </a:rPr>
              <a:t>Mermaid/</a:t>
            </a:r>
          </a:p>
          <a:p>
            <a:pPr algn="l">
              <a:spcAft>
                <a:spcPts val="300"/>
              </a:spcAft>
            </a:pPr>
            <a:r>
              <a:rPr sz="2000" b="0">
                <a:solidFill>
                  <a:srgbClr val="111827"/>
                </a:solidFill>
                <a:latin typeface="Calibri"/>
              </a:rPr>
              <a:t>Diagramas gerados do código e um verificador que confere o projeto reconstruído contra eles.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